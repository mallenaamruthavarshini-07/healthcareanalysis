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65" r:id="rId20"/>
  </p:sldIdLst>
  <p:sldSz cx="18288000" cy="10287000"/>
  <p:notesSz cx="6858000" cy="9144000"/>
  <p:embeddedFontLst>
    <p:embeddedFont>
      <p:font typeface="Lilita One" panose="020B0604020202020204" charset="0"/>
      <p:regular r:id="rId22"/>
    </p:embeddedFont>
    <p:embeddedFont>
      <p:font typeface="Quicksand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C12379-C33F-4955-B3D9-B1983C637856}" v="541" dt="2026-02-16T03:52:28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AAE1F-FFFF-4812-AF69-57236C3BCA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67ED6-4133-4F4C-91FC-D31E8C3F7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0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67ED6-4133-4F4C-91FC-D31E8C3F75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1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C8DE-AAE0-1E4E-68FB-35BB947F0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9AC76-E55A-ACE2-FFAE-670B095F8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A5979-8B4C-F950-9C80-BD100CA2C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AFF1A-CB72-16C7-BD08-3B9A9B421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29DBC-8CCF-91B4-0626-E321E77C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7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0EDD-3BDF-AFD6-963B-D3A2C8EC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69B97-A2C8-FC97-6121-7DFA7289D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A0D2E-58E4-A9A0-AC25-F892AAD9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E802A-E1DE-BB4B-6E5A-50EDB70F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409F-5ADB-80E7-777A-2D8D8F141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38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3AE5-1E69-73A0-FBC6-E0383245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34138-1301-CAF9-56E9-5E900F921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789C3-3841-9AAF-B56E-198EAB9DB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E5CB7-035D-68F7-7FFD-2D7F6E85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CFFD8-DDF6-892E-A657-EB6551C6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2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206B-FE45-F1A8-3107-50037D5B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22B4C-8E54-CE97-40DE-7E1379397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41BE2-23FA-1A3B-6153-00EF5A1C8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AB4AC-82B5-F956-162F-E978FEC70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E82C9-D9C3-8B02-BD9E-6786F086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34ADC-33DA-18E5-9203-7EAEDF51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55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37D9-7812-1476-8F45-C4259C272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DC68C-902D-CCAB-42DE-EA0A5C80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16716-61AA-FD5A-FCEE-9A89D8BC5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CFDB12-8F88-B3D4-3EB9-7D7C6F19C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96BCE-8CFA-40F7-B458-DA079B032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C482F6-A8BD-BC04-696F-3BC26C64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213ECF-8DC8-A8A6-9BAE-21C32BD3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153185-64D7-64BB-B067-9FCDFE6F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25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74FF2-D61D-FC3A-E38B-4EEADC9D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ED52C-2227-3815-2041-CE74B5AC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B1BA-DF11-62E9-7524-2A2963DA6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70B85-6C44-CBD9-570B-FF93694A8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96608-5DA6-AB41-3C45-4B31E0403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A6AA44-7FF1-BD95-8514-60E9E701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B56CE-E66F-46EB-501E-386398B8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3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0587-9419-B346-6073-28C6D895B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CAE1E-47E8-3B0D-8509-C70EA9FF8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7890D-4006-D26D-2CCC-AB976C1F1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8FEDD-4D33-38C7-32C0-77F4C4628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4D221-F5B3-7CC6-CE4F-785792A7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82788-86A3-DEE1-AF2C-3ADEF622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0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5B14-B939-6580-212F-85916DC09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D4322-0ABD-32C7-9CA3-96A728B2D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9CB83-1099-3849-409A-25C1BDDF2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3EBF5-B4A7-534D-AD42-3324B198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BAFB6-963D-E531-E542-B96BC1F17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DC9A7-4C23-7DA1-5977-2FD1A93DB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1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EE410-A453-BB8B-2312-8292D67A3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CF75C-25CA-1445-F506-1D7B600EF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FF763-582C-1C08-6348-1B27E2708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E64B7-5D9D-FC4E-57F9-9C7DA31C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16D0D-1D70-A10C-87E1-C34AF3875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24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E04C08-F9B6-D7BE-C1BC-2907D7A03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83514E-E4C7-EC65-DE15-56D031DDC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AFDF-A489-5EFE-4113-EF7DEF33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9CE4B-C470-BF16-CF61-2E225EF1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49AE9-6231-DF23-E797-66CCE762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0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502328-83D8-1763-810B-AB6E1421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B75BE-893C-FA09-EBFF-C06E7BC4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60F65-0184-ABC9-4388-F6B46B370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304F3-FA75-42D2-79E9-0A03C03FD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0F3CC-FC59-CB60-8B6C-E83188C9C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5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81000" y="2781300"/>
            <a:ext cx="14859000" cy="4398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26"/>
              </a:lnSpc>
            </a:pPr>
            <a:r>
              <a:rPr lang="en-US" sz="199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Health Care</a:t>
            </a:r>
          </a:p>
          <a:p>
            <a:pPr algn="l">
              <a:lnSpc>
                <a:spcPts val="10826"/>
              </a:lnSpc>
            </a:pPr>
            <a:endParaRPr lang="en-US" sz="19900" dirty="0">
              <a:solidFill>
                <a:srgbClr val="414370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algn="l">
              <a:lnSpc>
                <a:spcPts val="10826"/>
              </a:lnSpc>
            </a:pPr>
            <a:r>
              <a:rPr lang="en-US" sz="199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 Analysis  </a:t>
            </a:r>
          </a:p>
        </p:txBody>
      </p:sp>
      <p:sp>
        <p:nvSpPr>
          <p:cNvPr id="10" name="Freeform 10"/>
          <p:cNvSpPr/>
          <p:nvPr/>
        </p:nvSpPr>
        <p:spPr>
          <a:xfrm rot="-525537">
            <a:off x="1537217" y="8762218"/>
            <a:ext cx="929498" cy="919358"/>
          </a:xfrm>
          <a:custGeom>
            <a:avLst/>
            <a:gdLst/>
            <a:ahLst/>
            <a:cxnLst/>
            <a:rect l="l" t="t" r="r" b="b"/>
            <a:pathLst>
              <a:path w="929498" h="919358">
                <a:moveTo>
                  <a:pt x="0" y="0"/>
                </a:moveTo>
                <a:lnTo>
                  <a:pt x="929498" y="0"/>
                </a:lnTo>
                <a:lnTo>
                  <a:pt x="929498" y="919358"/>
                </a:lnTo>
                <a:lnTo>
                  <a:pt x="0" y="919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421283">
            <a:off x="16810643" y="4843840"/>
            <a:ext cx="742602" cy="734501"/>
          </a:xfrm>
          <a:custGeom>
            <a:avLst/>
            <a:gdLst/>
            <a:ahLst/>
            <a:cxnLst/>
            <a:rect l="l" t="t" r="r" b="b"/>
            <a:pathLst>
              <a:path w="742602" h="734501">
                <a:moveTo>
                  <a:pt x="0" y="0"/>
                </a:moveTo>
                <a:lnTo>
                  <a:pt x="742602" y="0"/>
                </a:lnTo>
                <a:lnTo>
                  <a:pt x="742602" y="734501"/>
                </a:lnTo>
                <a:lnTo>
                  <a:pt x="0" y="734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421283">
            <a:off x="8228957" y="-4469"/>
            <a:ext cx="1769388" cy="1750085"/>
          </a:xfrm>
          <a:custGeom>
            <a:avLst/>
            <a:gdLst/>
            <a:ahLst/>
            <a:cxnLst/>
            <a:rect l="l" t="t" r="r" b="b"/>
            <a:pathLst>
              <a:path w="1769388" h="1750085">
                <a:moveTo>
                  <a:pt x="0" y="0"/>
                </a:moveTo>
                <a:lnTo>
                  <a:pt x="1769387" y="0"/>
                </a:lnTo>
                <a:lnTo>
                  <a:pt x="1769387" y="1750085"/>
                </a:lnTo>
                <a:lnTo>
                  <a:pt x="0" y="175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DDD51D-3541-C9DF-BBD0-198AD1F34E0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167" b="99653" l="1862" r="92287">
                        <a14:foregroundMark x1="36436" y1="4340" x2="25266" y2="11979"/>
                        <a14:foregroundMark x1="25266" y1="11979" x2="17021" y2="25521"/>
                        <a14:foregroundMark x1="17021" y1="25521" x2="17819" y2="35417"/>
                        <a14:foregroundMark x1="17819" y1="35417" x2="23670" y2="41493"/>
                        <a14:foregroundMark x1="23670" y1="41493" x2="14096" y2="45139"/>
                        <a14:foregroundMark x1="25266" y1="50000" x2="26862" y2="63889"/>
                        <a14:foregroundMark x1="26862" y1="63889" x2="18351" y2="50000"/>
                        <a14:foregroundMark x1="18351" y1="50000" x2="9309" y2="41667"/>
                        <a14:foregroundMark x1="9309" y1="41667" x2="0" y2="38889"/>
                        <a14:foregroundMark x1="0" y1="38889" x2="4521" y2="61111"/>
                        <a14:foregroundMark x1="4521" y1="61111" x2="11968" y2="67361"/>
                        <a14:foregroundMark x1="11968" y1="67361" x2="18351" y2="86979"/>
                        <a14:foregroundMark x1="18351" y1="86979" x2="31649" y2="99653"/>
                        <a14:foregroundMark x1="31649" y1="99653" x2="31649" y2="99826"/>
                        <a14:foregroundMark x1="6649" y1="40799" x2="1862" y2="57986"/>
                        <a14:foregroundMark x1="1862" y1="57986" x2="2128" y2="59375"/>
                        <a14:foregroundMark x1="50798" y1="51389" x2="35372" y2="56771"/>
                        <a14:foregroundMark x1="35372" y1="56771" x2="25798" y2="62674"/>
                        <a14:foregroundMark x1="25798" y1="62674" x2="27128" y2="69618"/>
                        <a14:foregroundMark x1="27128" y1="69618" x2="32713" y2="77604"/>
                        <a14:foregroundMark x1="32713" y1="77604" x2="42819" y2="81597"/>
                        <a14:foregroundMark x1="42819" y1="81597" x2="70745" y2="84549"/>
                        <a14:foregroundMark x1="70745" y1="84549" x2="78723" y2="77431"/>
                        <a14:foregroundMark x1="78723" y1="77431" x2="80319" y2="70139"/>
                        <a14:foregroundMark x1="80319" y1="70139" x2="77660" y2="63368"/>
                        <a14:foregroundMark x1="77660" y1="63368" x2="79521" y2="55903"/>
                        <a14:foregroundMark x1="79521" y1="55903" x2="78989" y2="52951"/>
                        <a14:foregroundMark x1="83511" y1="65972" x2="82447" y2="56076"/>
                        <a14:foregroundMark x1="82447" y1="56076" x2="92287" y2="59201"/>
                        <a14:foregroundMark x1="92287" y1="59201" x2="90426" y2="80208"/>
                        <a14:foregroundMark x1="51064" y1="72396" x2="48404" y2="63021"/>
                        <a14:foregroundMark x1="48404" y1="63021" x2="52926" y2="53299"/>
                        <a14:foregroundMark x1="48138" y1="64931" x2="48936" y2="63889"/>
                        <a14:foregroundMark x1="57181" y1="73438" x2="72074" y2="51389"/>
                        <a14:foregroundMark x1="72074" y1="64236" x2="61170" y2="70833"/>
                        <a14:foregroundMark x1="61170" y1="70833" x2="74202" y2="72049"/>
                        <a14:foregroundMark x1="74202" y1="72049" x2="76330" y2="64063"/>
                        <a14:backgroundMark x1="14894" y1="18229" x2="14894" y2="18229"/>
                        <a14:backgroundMark x1="14894" y1="18229" x2="14894" y2="18229"/>
                        <a14:backgroundMark x1="14894" y1="18229" x2="12500" y2="8507"/>
                        <a14:backgroundMark x1="12500" y1="8507" x2="9574" y2="25521"/>
                        <a14:backgroundMark x1="9574" y1="25521" x2="9043" y2="11632"/>
                        <a14:backgroundMark x1="9043" y1="11632" x2="3723" y2="25694"/>
                        <a14:backgroundMark x1="3723" y1="25694" x2="8777" y2="300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3458" y="342900"/>
            <a:ext cx="5166786" cy="8534400"/>
          </a:xfrm>
          <a:prstGeom prst="rect">
            <a:avLst/>
          </a:prstGeom>
          <a:ln>
            <a:solidFill>
              <a:srgbClr val="FDFDFD"/>
            </a:solidFill>
          </a:ln>
          <a:effectLst>
            <a:reflection blurRad="6350" stA="50000" endA="275" endPos="40000" dist="101600" dir="5400000" sy="-100000" algn="bl" rotWithShape="0"/>
          </a:effectLst>
        </p:spPr>
      </p:pic>
      <p:sp>
        <p:nvSpPr>
          <p:cNvPr id="14" name="Freeform 8"/>
          <p:cNvSpPr/>
          <p:nvPr/>
        </p:nvSpPr>
        <p:spPr>
          <a:xfrm>
            <a:off x="2819401" y="507779"/>
            <a:ext cx="1676400" cy="1587721"/>
          </a:xfrm>
          <a:custGeom>
            <a:avLst/>
            <a:gdLst/>
            <a:ahLst/>
            <a:cxnLst/>
            <a:rect l="l" t="t" r="r" b="b"/>
            <a:pathLst>
              <a:path w="1773617" h="1512411">
                <a:moveTo>
                  <a:pt x="0" y="0"/>
                </a:moveTo>
                <a:lnTo>
                  <a:pt x="1773617" y="0"/>
                </a:lnTo>
                <a:lnTo>
                  <a:pt x="1773617" y="1512412"/>
                </a:lnTo>
                <a:lnTo>
                  <a:pt x="0" y="15124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2685165" y="5113714"/>
            <a:ext cx="15336053" cy="4058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 err="1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Analysing</a:t>
            </a:r>
            <a:r>
              <a:rPr lang="en-US" sz="3600" b="1" dirty="0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Hospital Data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Identifying Patient Trends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Tracking Number of patients visits hospital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Comparing Each Department Performance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Understanding Data By using Dashboards</a:t>
            </a:r>
          </a:p>
        </p:txBody>
      </p:sp>
      <p:sp>
        <p:nvSpPr>
          <p:cNvPr id="19" name="Freeform 19"/>
          <p:cNvSpPr/>
          <p:nvPr/>
        </p:nvSpPr>
        <p:spPr>
          <a:xfrm rot="-1450750">
            <a:off x="2631155" y="649198"/>
            <a:ext cx="2662488" cy="4488116"/>
          </a:xfrm>
          <a:custGeom>
            <a:avLst/>
            <a:gdLst/>
            <a:ahLst/>
            <a:cxnLst/>
            <a:rect l="l" t="t" r="r" b="b"/>
            <a:pathLst>
              <a:path w="2728198" h="3887329">
                <a:moveTo>
                  <a:pt x="0" y="0"/>
                </a:moveTo>
                <a:lnTo>
                  <a:pt x="2728198" y="0"/>
                </a:lnTo>
                <a:lnTo>
                  <a:pt x="2728198" y="3887329"/>
                </a:lnTo>
                <a:lnTo>
                  <a:pt x="0" y="388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0" name="TextBox 20"/>
          <p:cNvSpPr txBox="1"/>
          <p:nvPr/>
        </p:nvSpPr>
        <p:spPr>
          <a:xfrm>
            <a:off x="1640084" y="1289114"/>
            <a:ext cx="16192419" cy="3512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138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Objective Of</a:t>
            </a:r>
          </a:p>
          <a:p>
            <a:pPr algn="ctr">
              <a:lnSpc>
                <a:spcPts val="8799"/>
              </a:lnSpc>
            </a:pPr>
            <a:endParaRPr lang="en-US" sz="13800" dirty="0">
              <a:solidFill>
                <a:srgbClr val="414370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algn="ctr">
              <a:lnSpc>
                <a:spcPts val="8799"/>
              </a:lnSpc>
            </a:pPr>
            <a:r>
              <a:rPr lang="en-US" sz="138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 Project</a:t>
            </a:r>
          </a:p>
        </p:txBody>
      </p:sp>
      <p:sp>
        <p:nvSpPr>
          <p:cNvPr id="22" name="Freeform 22"/>
          <p:cNvSpPr/>
          <p:nvPr/>
        </p:nvSpPr>
        <p:spPr>
          <a:xfrm>
            <a:off x="15598179" y="1407861"/>
            <a:ext cx="1432440" cy="1416813"/>
          </a:xfrm>
          <a:custGeom>
            <a:avLst/>
            <a:gdLst/>
            <a:ahLst/>
            <a:cxnLst/>
            <a:rect l="l" t="t" r="r" b="b"/>
            <a:pathLst>
              <a:path w="1432440" h="1416813">
                <a:moveTo>
                  <a:pt x="0" y="0"/>
                </a:moveTo>
                <a:lnTo>
                  <a:pt x="1432440" y="0"/>
                </a:lnTo>
                <a:lnTo>
                  <a:pt x="1432440" y="1416813"/>
                </a:lnTo>
                <a:lnTo>
                  <a:pt x="0" y="1416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640084" y="6153016"/>
            <a:ext cx="856366" cy="847024"/>
          </a:xfrm>
          <a:custGeom>
            <a:avLst/>
            <a:gdLst/>
            <a:ahLst/>
            <a:cxnLst/>
            <a:rect l="l" t="t" r="r" b="b"/>
            <a:pathLst>
              <a:path w="856366" h="847024">
                <a:moveTo>
                  <a:pt x="0" y="0"/>
                </a:moveTo>
                <a:lnTo>
                  <a:pt x="856367" y="0"/>
                </a:lnTo>
                <a:lnTo>
                  <a:pt x="856367" y="847024"/>
                </a:lnTo>
                <a:lnTo>
                  <a:pt x="0" y="84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340862" y="1269242"/>
            <a:ext cx="1044664" cy="1033267"/>
          </a:xfrm>
          <a:custGeom>
            <a:avLst/>
            <a:gdLst/>
            <a:ahLst/>
            <a:cxnLst/>
            <a:rect l="l" t="t" r="r" b="b"/>
            <a:pathLst>
              <a:path w="1044664" h="1033267">
                <a:moveTo>
                  <a:pt x="0" y="0"/>
                </a:moveTo>
                <a:lnTo>
                  <a:pt x="1044663" y="0"/>
                </a:lnTo>
                <a:lnTo>
                  <a:pt x="1044663" y="1033268"/>
                </a:lnTo>
                <a:lnTo>
                  <a:pt x="0" y="1033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895600" y="1514939"/>
            <a:ext cx="13030200" cy="1255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138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KPI’s  Used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62400" y="3769051"/>
            <a:ext cx="9677400" cy="4736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ctr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5400" b="1" dirty="0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Total Patients</a:t>
            </a:r>
          </a:p>
          <a:p>
            <a:pPr marL="571500" indent="-571500" algn="ctr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5400" b="1" dirty="0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Total Visitors</a:t>
            </a:r>
          </a:p>
          <a:p>
            <a:pPr marL="571500" indent="-571500" algn="ctr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5400" b="1" dirty="0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Total Revenue</a:t>
            </a:r>
          </a:p>
        </p:txBody>
      </p:sp>
      <p:sp>
        <p:nvSpPr>
          <p:cNvPr id="18" name="Freeform 18"/>
          <p:cNvSpPr/>
          <p:nvPr/>
        </p:nvSpPr>
        <p:spPr>
          <a:xfrm rot="5400000">
            <a:off x="16164974" y="2708128"/>
            <a:ext cx="829617" cy="820566"/>
          </a:xfrm>
          <a:custGeom>
            <a:avLst/>
            <a:gdLst/>
            <a:ahLst/>
            <a:cxnLst/>
            <a:rect l="l" t="t" r="r" b="b"/>
            <a:pathLst>
              <a:path w="829617" h="820566">
                <a:moveTo>
                  <a:pt x="0" y="0"/>
                </a:moveTo>
                <a:lnTo>
                  <a:pt x="829617" y="0"/>
                </a:lnTo>
                <a:lnTo>
                  <a:pt x="829617" y="820566"/>
                </a:lnTo>
                <a:lnTo>
                  <a:pt x="0" y="82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5400000">
            <a:off x="14771958" y="4160449"/>
            <a:ext cx="1987785" cy="1966101"/>
          </a:xfrm>
          <a:custGeom>
            <a:avLst/>
            <a:gdLst/>
            <a:ahLst/>
            <a:cxnLst/>
            <a:rect l="l" t="t" r="r" b="b"/>
            <a:pathLst>
              <a:path w="1987785" h="1966101">
                <a:moveTo>
                  <a:pt x="0" y="0"/>
                </a:moveTo>
                <a:lnTo>
                  <a:pt x="1987785" y="0"/>
                </a:lnTo>
                <a:lnTo>
                  <a:pt x="1987785" y="1966101"/>
                </a:lnTo>
                <a:lnTo>
                  <a:pt x="0" y="1966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7" name="Freeform 9"/>
          <p:cNvSpPr/>
          <p:nvPr/>
        </p:nvSpPr>
        <p:spPr>
          <a:xfrm>
            <a:off x="1759383" y="3301469"/>
            <a:ext cx="2203017" cy="1565508"/>
          </a:xfrm>
          <a:custGeom>
            <a:avLst/>
            <a:gdLst/>
            <a:ahLst/>
            <a:cxnLst/>
            <a:rect l="l" t="t" r="r" b="b"/>
            <a:pathLst>
              <a:path w="1875397" h="1384384">
                <a:moveTo>
                  <a:pt x="0" y="0"/>
                </a:moveTo>
                <a:lnTo>
                  <a:pt x="1875397" y="0"/>
                </a:lnTo>
                <a:lnTo>
                  <a:pt x="1875397" y="1384384"/>
                </a:lnTo>
                <a:lnTo>
                  <a:pt x="0" y="13843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 rot="-653065">
            <a:off x="14806014" y="7408409"/>
            <a:ext cx="2040302" cy="2222111"/>
          </a:xfrm>
          <a:custGeom>
            <a:avLst/>
            <a:gdLst/>
            <a:ahLst/>
            <a:cxnLst/>
            <a:rect l="l" t="t" r="r" b="b"/>
            <a:pathLst>
              <a:path w="2040302" h="2222111">
                <a:moveTo>
                  <a:pt x="0" y="0"/>
                </a:moveTo>
                <a:lnTo>
                  <a:pt x="2040302" y="0"/>
                </a:lnTo>
                <a:lnTo>
                  <a:pt x="2040302" y="2222111"/>
                </a:lnTo>
                <a:lnTo>
                  <a:pt x="0" y="2222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896728" y="721860"/>
            <a:ext cx="17068799" cy="1024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60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Q1. Which Gender Visits More Hospitals and Why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6249" y="2476500"/>
            <a:ext cx="17099278" cy="2404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Women occupy 34% of total hospital visits</a:t>
            </a:r>
            <a:r>
              <a:rPr lang="en-US" sz="3600" dirty="0"/>
              <a:t>, which is the highest because females mostly require regular health checkups, gynecology-related consultations, and pregnancy-related care.</a:t>
            </a:r>
            <a:endParaRPr lang="en-US" sz="3600" b="1" dirty="0">
              <a:solidFill>
                <a:srgbClr val="41437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381000" y="5588914"/>
            <a:ext cx="1427696" cy="1412121"/>
          </a:xfrm>
          <a:custGeom>
            <a:avLst/>
            <a:gdLst/>
            <a:ahLst/>
            <a:cxnLst/>
            <a:rect l="l" t="t" r="r" b="b"/>
            <a:pathLst>
              <a:path w="1427696" h="1412121">
                <a:moveTo>
                  <a:pt x="0" y="0"/>
                </a:moveTo>
                <a:lnTo>
                  <a:pt x="1427696" y="0"/>
                </a:lnTo>
                <a:lnTo>
                  <a:pt x="1427696" y="1412121"/>
                </a:lnTo>
                <a:lnTo>
                  <a:pt x="0" y="14121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623527" y="6130914"/>
            <a:ext cx="797991" cy="789286"/>
          </a:xfrm>
          <a:custGeom>
            <a:avLst/>
            <a:gdLst/>
            <a:ahLst/>
            <a:cxnLst/>
            <a:rect l="l" t="t" r="r" b="b"/>
            <a:pathLst>
              <a:path w="797991" h="789286">
                <a:moveTo>
                  <a:pt x="0" y="0"/>
                </a:moveTo>
                <a:lnTo>
                  <a:pt x="797991" y="0"/>
                </a:lnTo>
                <a:lnTo>
                  <a:pt x="797991" y="789286"/>
                </a:lnTo>
                <a:lnTo>
                  <a:pt x="0" y="789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60CCBDA-24F5-F5BB-E61C-19DA7D4026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4881262"/>
            <a:ext cx="9144000" cy="507757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16838354" y="2359133"/>
            <a:ext cx="1432440" cy="1416813"/>
          </a:xfrm>
          <a:custGeom>
            <a:avLst/>
            <a:gdLst/>
            <a:ahLst/>
            <a:cxnLst/>
            <a:rect l="l" t="t" r="r" b="b"/>
            <a:pathLst>
              <a:path w="1432440" h="1416813">
                <a:moveTo>
                  <a:pt x="0" y="0"/>
                </a:moveTo>
                <a:lnTo>
                  <a:pt x="1432440" y="0"/>
                </a:lnTo>
                <a:lnTo>
                  <a:pt x="1432440" y="1416813"/>
                </a:lnTo>
                <a:lnTo>
                  <a:pt x="0" y="1416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33807" y="7307710"/>
            <a:ext cx="856366" cy="847024"/>
          </a:xfrm>
          <a:custGeom>
            <a:avLst/>
            <a:gdLst/>
            <a:ahLst/>
            <a:cxnLst/>
            <a:rect l="l" t="t" r="r" b="b"/>
            <a:pathLst>
              <a:path w="856366" h="847024">
                <a:moveTo>
                  <a:pt x="0" y="0"/>
                </a:moveTo>
                <a:lnTo>
                  <a:pt x="856366" y="0"/>
                </a:lnTo>
                <a:lnTo>
                  <a:pt x="856366" y="847024"/>
                </a:lnTo>
                <a:lnTo>
                  <a:pt x="0" y="847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21227" y="2781300"/>
            <a:ext cx="17738173" cy="1748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The age group 19–35 occupies 30% of total visits</a:t>
            </a:r>
            <a:r>
              <a:rPr lang="en-US" sz="4000" dirty="0"/>
              <a:t>, because this group is more active, faces lifestyle issues, work stress, and accident-related admissions.</a:t>
            </a:r>
            <a:endParaRPr lang="en-US" sz="3600" b="1" dirty="0">
              <a:solidFill>
                <a:srgbClr val="41437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21227" y="1118045"/>
            <a:ext cx="18059399" cy="1024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60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Q2. Which Age Group </a:t>
            </a:r>
            <a:r>
              <a:rPr lang="en-US" sz="6000" dirty="0" err="1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Heighest</a:t>
            </a:r>
            <a:r>
              <a:rPr lang="en-US" sz="60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 Hospital Visits &amp;Why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8B02F23-020A-6497-BA96-29E750E29F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5169048"/>
            <a:ext cx="8534400" cy="447025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0" y="571500"/>
            <a:ext cx="176784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72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Q3.Which City Has Maximum Patient Count 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078200" y="2187378"/>
            <a:ext cx="1432440" cy="1416813"/>
          </a:xfrm>
          <a:custGeom>
            <a:avLst/>
            <a:gdLst/>
            <a:ahLst/>
            <a:cxnLst/>
            <a:rect l="l" t="t" r="r" b="b"/>
            <a:pathLst>
              <a:path w="1432440" h="1416813">
                <a:moveTo>
                  <a:pt x="0" y="0"/>
                </a:moveTo>
                <a:lnTo>
                  <a:pt x="1432440" y="0"/>
                </a:lnTo>
                <a:lnTo>
                  <a:pt x="1432440" y="1416813"/>
                </a:lnTo>
                <a:lnTo>
                  <a:pt x="0" y="1416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21066" y="5610961"/>
            <a:ext cx="1089405" cy="1077520"/>
          </a:xfrm>
          <a:custGeom>
            <a:avLst/>
            <a:gdLst/>
            <a:ahLst/>
            <a:cxnLst/>
            <a:rect l="l" t="t" r="r" b="b"/>
            <a:pathLst>
              <a:path w="1089405" h="1077520">
                <a:moveTo>
                  <a:pt x="0" y="0"/>
                </a:moveTo>
                <a:lnTo>
                  <a:pt x="1089405" y="0"/>
                </a:lnTo>
                <a:lnTo>
                  <a:pt x="1089405" y="1077520"/>
                </a:lnTo>
                <a:lnTo>
                  <a:pt x="0" y="1077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011DC8-C1FE-2DE9-29A6-4AD24C9ADBFF}"/>
              </a:ext>
            </a:extLst>
          </p:cNvPr>
          <p:cNvSpPr txBox="1"/>
          <p:nvPr/>
        </p:nvSpPr>
        <p:spPr>
          <a:xfrm>
            <a:off x="457200" y="2195981"/>
            <a:ext cx="17907000" cy="1668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Hyderabad occupies 15% of total patient visits</a:t>
            </a:r>
            <a:r>
              <a:rPr lang="en-US" sz="3600" dirty="0"/>
              <a:t>, because it is a highly populated metro city with better hospital accessibility and higher healthcare demand.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EF26948-9B74-1B75-323A-8F2DA37195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4610100"/>
            <a:ext cx="7307692" cy="554062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304800" y="723900"/>
            <a:ext cx="17983200" cy="2188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60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Q4. Which Branch is Performing Better in Terms of Patient Handling &amp; Why</a:t>
            </a:r>
          </a:p>
        </p:txBody>
      </p:sp>
      <p:sp>
        <p:nvSpPr>
          <p:cNvPr id="24" name="Freeform 24"/>
          <p:cNvSpPr/>
          <p:nvPr/>
        </p:nvSpPr>
        <p:spPr>
          <a:xfrm rot="1755456">
            <a:off x="16557348" y="762669"/>
            <a:ext cx="1836507" cy="1816472"/>
          </a:xfrm>
          <a:custGeom>
            <a:avLst/>
            <a:gdLst/>
            <a:ahLst/>
            <a:cxnLst/>
            <a:rect l="l" t="t" r="r" b="b"/>
            <a:pathLst>
              <a:path w="1836507" h="1816472">
                <a:moveTo>
                  <a:pt x="0" y="0"/>
                </a:moveTo>
                <a:lnTo>
                  <a:pt x="1836507" y="0"/>
                </a:lnTo>
                <a:lnTo>
                  <a:pt x="1836507" y="1816472"/>
                </a:lnTo>
                <a:lnTo>
                  <a:pt x="0" y="1816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1755456">
            <a:off x="3862787" y="8304355"/>
            <a:ext cx="920202" cy="910163"/>
          </a:xfrm>
          <a:custGeom>
            <a:avLst/>
            <a:gdLst/>
            <a:ahLst/>
            <a:cxnLst/>
            <a:rect l="l" t="t" r="r" b="b"/>
            <a:pathLst>
              <a:path w="920202" h="910163">
                <a:moveTo>
                  <a:pt x="0" y="0"/>
                </a:moveTo>
                <a:lnTo>
                  <a:pt x="920201" y="0"/>
                </a:lnTo>
                <a:lnTo>
                  <a:pt x="920201" y="910163"/>
                </a:lnTo>
                <a:lnTo>
                  <a:pt x="0" y="910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C91F1E-AC57-E74D-832E-22E58EC88267}"/>
              </a:ext>
            </a:extLst>
          </p:cNvPr>
          <p:cNvSpPr txBox="1"/>
          <p:nvPr/>
        </p:nvSpPr>
        <p:spPr>
          <a:xfrm>
            <a:off x="304800" y="3170574"/>
            <a:ext cx="17754600" cy="1668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Branch A occupies 26%  of total patient handling</a:t>
            </a:r>
            <a:r>
              <a:rPr lang="en-US" sz="3600" dirty="0"/>
              <a:t>, which shows it is performing better due to higher patient inflow capacity, strong infrastructure, and efficient management.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AE88FFB-18A7-FF24-A8DD-563DCDA21F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358" y="5143499"/>
            <a:ext cx="8173284" cy="481247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152400" y="8267700"/>
            <a:ext cx="1554581" cy="1707149"/>
          </a:xfrm>
          <a:custGeom>
            <a:avLst/>
            <a:gdLst/>
            <a:ahLst/>
            <a:cxnLst/>
            <a:rect l="l" t="t" r="r" b="b"/>
            <a:pathLst>
              <a:path w="1890520" h="1869897">
                <a:moveTo>
                  <a:pt x="0" y="0"/>
                </a:moveTo>
                <a:lnTo>
                  <a:pt x="1890520" y="0"/>
                </a:lnTo>
                <a:lnTo>
                  <a:pt x="1890520" y="1869897"/>
                </a:lnTo>
                <a:lnTo>
                  <a:pt x="0" y="1869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228600" y="495300"/>
            <a:ext cx="18673916" cy="1990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60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Q5.Which Age Group is Most Likely to Take Emergency Admission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15832" y="5404160"/>
            <a:ext cx="910987" cy="901049"/>
          </a:xfrm>
          <a:custGeom>
            <a:avLst/>
            <a:gdLst/>
            <a:ahLst/>
            <a:cxnLst/>
            <a:rect l="l" t="t" r="r" b="b"/>
            <a:pathLst>
              <a:path w="910987" h="901049">
                <a:moveTo>
                  <a:pt x="0" y="0"/>
                </a:moveTo>
                <a:lnTo>
                  <a:pt x="910987" y="0"/>
                </a:lnTo>
                <a:lnTo>
                  <a:pt x="910987" y="901049"/>
                </a:lnTo>
                <a:lnTo>
                  <a:pt x="0" y="901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69C16E-90C6-B18D-5449-14C2EC58366C}"/>
              </a:ext>
            </a:extLst>
          </p:cNvPr>
          <p:cNvSpPr txBox="1"/>
          <p:nvPr/>
        </p:nvSpPr>
        <p:spPr>
          <a:xfrm>
            <a:off x="233516" y="2857500"/>
            <a:ext cx="18059400" cy="2766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The 19–35 age group occupies 31%of total emergency admissions</a:t>
            </a:r>
            <a:r>
              <a:rPr lang="en-US" sz="4000" dirty="0"/>
              <a:t>, because young adults face more road accidents, work pressure, and sudden health-related emergencies.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6CB892F-8558-A736-18E3-18FC4CC79D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433" y="5312260"/>
            <a:ext cx="8534399" cy="466258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/>
          <p:cNvSpPr/>
          <p:nvPr/>
        </p:nvSpPr>
        <p:spPr>
          <a:xfrm>
            <a:off x="15028960" y="1028700"/>
            <a:ext cx="1500957" cy="1484582"/>
          </a:xfrm>
          <a:custGeom>
            <a:avLst/>
            <a:gdLst/>
            <a:ahLst/>
            <a:cxnLst/>
            <a:rect l="l" t="t" r="r" b="b"/>
            <a:pathLst>
              <a:path w="1500957" h="1484582">
                <a:moveTo>
                  <a:pt x="0" y="0"/>
                </a:moveTo>
                <a:lnTo>
                  <a:pt x="1500956" y="0"/>
                </a:lnTo>
                <a:lnTo>
                  <a:pt x="1500956" y="1484582"/>
                </a:lnTo>
                <a:lnTo>
                  <a:pt x="0" y="148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81000" y="354750"/>
            <a:ext cx="17907000" cy="2170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60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Q6. Which Department </a:t>
            </a:r>
            <a:r>
              <a:rPr lang="en-US" sz="6000" dirty="0" err="1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Recevies</a:t>
            </a:r>
            <a:r>
              <a:rPr lang="en-US" sz="60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 The </a:t>
            </a:r>
            <a:r>
              <a:rPr lang="en-US" sz="6000" dirty="0" err="1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Heighest</a:t>
            </a:r>
            <a:r>
              <a:rPr lang="en-US" sz="60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 Number Of Admission &amp; Why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1000" y="2857500"/>
            <a:ext cx="17678400" cy="1748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Neurology occupies 10% of total admissions</a:t>
            </a:r>
            <a:r>
              <a:rPr lang="en-US" sz="4000" dirty="0"/>
              <a:t>, because neurological cases like stroke, migraine, seizures are critical and often require immediate hospitalization</a:t>
            </a:r>
            <a:endParaRPr lang="en-US" sz="3600" b="1" dirty="0">
              <a:solidFill>
                <a:srgbClr val="41437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581703" y="7952358"/>
            <a:ext cx="904559" cy="894691"/>
          </a:xfrm>
          <a:custGeom>
            <a:avLst/>
            <a:gdLst/>
            <a:ahLst/>
            <a:cxnLst/>
            <a:rect l="l" t="t" r="r" b="b"/>
            <a:pathLst>
              <a:path w="904559" h="894691">
                <a:moveTo>
                  <a:pt x="0" y="0"/>
                </a:moveTo>
                <a:lnTo>
                  <a:pt x="904559" y="0"/>
                </a:lnTo>
                <a:lnTo>
                  <a:pt x="904559" y="894691"/>
                </a:lnTo>
                <a:lnTo>
                  <a:pt x="0" y="894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52D400-2C22-D4C1-57B5-D1ED470014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4938468"/>
            <a:ext cx="6629400" cy="51602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1608">
              <a:schemeClr val="accent2">
                <a:lumMod val="20000"/>
                <a:lumOff val="80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D2DDC-DF88-25AC-3B5B-0B69E31F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E65A29FB-D66D-9336-80EF-FBAFA558C1A1}"/>
              </a:ext>
            </a:extLst>
          </p:cNvPr>
          <p:cNvSpPr/>
          <p:nvPr/>
        </p:nvSpPr>
        <p:spPr>
          <a:xfrm>
            <a:off x="15028960" y="1028700"/>
            <a:ext cx="1500957" cy="1484582"/>
          </a:xfrm>
          <a:custGeom>
            <a:avLst/>
            <a:gdLst/>
            <a:ahLst/>
            <a:cxnLst/>
            <a:rect l="l" t="t" r="r" b="b"/>
            <a:pathLst>
              <a:path w="1500957" h="1484582">
                <a:moveTo>
                  <a:pt x="0" y="0"/>
                </a:moveTo>
                <a:lnTo>
                  <a:pt x="1500956" y="0"/>
                </a:lnTo>
                <a:lnTo>
                  <a:pt x="1500956" y="1484582"/>
                </a:lnTo>
                <a:lnTo>
                  <a:pt x="0" y="148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2ACBC46-8D2F-F1F6-9076-D92E71D2B629}"/>
              </a:ext>
            </a:extLst>
          </p:cNvPr>
          <p:cNvSpPr txBox="1"/>
          <p:nvPr/>
        </p:nvSpPr>
        <p:spPr>
          <a:xfrm>
            <a:off x="1033982" y="241177"/>
            <a:ext cx="17907000" cy="1024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54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Q7.Which Type Of Admission Patients Visits Most </a:t>
            </a: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7BCE8FB6-2469-7B0A-B5DD-84F7BC9AF2E2}"/>
              </a:ext>
            </a:extLst>
          </p:cNvPr>
          <p:cNvSpPr/>
          <p:nvPr/>
        </p:nvSpPr>
        <p:spPr>
          <a:xfrm>
            <a:off x="581703" y="7952358"/>
            <a:ext cx="904559" cy="894691"/>
          </a:xfrm>
          <a:custGeom>
            <a:avLst/>
            <a:gdLst/>
            <a:ahLst/>
            <a:cxnLst/>
            <a:rect l="l" t="t" r="r" b="b"/>
            <a:pathLst>
              <a:path w="904559" h="894691">
                <a:moveTo>
                  <a:pt x="0" y="0"/>
                </a:moveTo>
                <a:lnTo>
                  <a:pt x="904559" y="0"/>
                </a:lnTo>
                <a:lnTo>
                  <a:pt x="904559" y="894691"/>
                </a:lnTo>
                <a:lnTo>
                  <a:pt x="0" y="894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C6701-8821-A02C-A7BD-20ABE8F3B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848100"/>
            <a:ext cx="7857565" cy="521621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BB994D-ED56-4F21-FC22-C08B2FC452B8}"/>
              </a:ext>
            </a:extLst>
          </p:cNvPr>
          <p:cNvSpPr txBox="1"/>
          <p:nvPr/>
        </p:nvSpPr>
        <p:spPr>
          <a:xfrm>
            <a:off x="1486262" y="2019300"/>
            <a:ext cx="135426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OPD Admission Occupies 56% ,OPD cases Visits Most</a:t>
            </a:r>
          </a:p>
        </p:txBody>
      </p:sp>
    </p:spTree>
    <p:extLst>
      <p:ext uri="{BB962C8B-B14F-4D97-AF65-F5344CB8AC3E}">
        <p14:creationId xmlns:p14="http://schemas.microsoft.com/office/powerpoint/2010/main" val="3488602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26F74-F945-B3CC-8661-BE2DA097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AC3D439D-0F22-8AA6-4E6F-B056D04C0413}"/>
              </a:ext>
            </a:extLst>
          </p:cNvPr>
          <p:cNvSpPr/>
          <p:nvPr/>
        </p:nvSpPr>
        <p:spPr>
          <a:xfrm>
            <a:off x="15028960" y="1028700"/>
            <a:ext cx="1500957" cy="1484582"/>
          </a:xfrm>
          <a:custGeom>
            <a:avLst/>
            <a:gdLst/>
            <a:ahLst/>
            <a:cxnLst/>
            <a:rect l="l" t="t" r="r" b="b"/>
            <a:pathLst>
              <a:path w="1500957" h="1484582">
                <a:moveTo>
                  <a:pt x="0" y="0"/>
                </a:moveTo>
                <a:lnTo>
                  <a:pt x="1500956" y="0"/>
                </a:lnTo>
                <a:lnTo>
                  <a:pt x="1500956" y="1484582"/>
                </a:lnTo>
                <a:lnTo>
                  <a:pt x="0" y="148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9642786-DB5F-89A6-3B3B-407FB2270FB8}"/>
              </a:ext>
            </a:extLst>
          </p:cNvPr>
          <p:cNvSpPr txBox="1"/>
          <p:nvPr/>
        </p:nvSpPr>
        <p:spPr>
          <a:xfrm>
            <a:off x="461682" y="372511"/>
            <a:ext cx="17907000" cy="2134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Q8. Which department generates the highest treatment cost and why?</a:t>
            </a: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4D543631-CA68-FDBB-D4AD-484654006E21}"/>
              </a:ext>
            </a:extLst>
          </p:cNvPr>
          <p:cNvSpPr/>
          <p:nvPr/>
        </p:nvSpPr>
        <p:spPr>
          <a:xfrm>
            <a:off x="581703" y="7952358"/>
            <a:ext cx="904559" cy="894691"/>
          </a:xfrm>
          <a:custGeom>
            <a:avLst/>
            <a:gdLst/>
            <a:ahLst/>
            <a:cxnLst/>
            <a:rect l="l" t="t" r="r" b="b"/>
            <a:pathLst>
              <a:path w="904559" h="894691">
                <a:moveTo>
                  <a:pt x="0" y="0"/>
                </a:moveTo>
                <a:lnTo>
                  <a:pt x="904559" y="0"/>
                </a:lnTo>
                <a:lnTo>
                  <a:pt x="904559" y="894691"/>
                </a:lnTo>
                <a:lnTo>
                  <a:pt x="0" y="894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393D7-694F-C4C6-007E-6657F0B7F523}"/>
              </a:ext>
            </a:extLst>
          </p:cNvPr>
          <p:cNvSpPr txBox="1"/>
          <p:nvPr/>
        </p:nvSpPr>
        <p:spPr>
          <a:xfrm>
            <a:off x="228600" y="2700120"/>
            <a:ext cx="18669000" cy="14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Neurology  and Oncology generates the highest revenue by contributing 14%</a:t>
            </a:r>
            <a:r>
              <a:rPr lang="en-US" sz="3200" dirty="0"/>
              <a:t>of total revenue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because neurology cases require costly diagnostics (MRI/CT), ICU care, and high-end procedures.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C6CBF-D48F-B605-E58E-5F79962A60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5129051"/>
            <a:ext cx="8305800" cy="478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02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04585-DED3-743E-65A2-177D06DAA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14D1043E-FAB0-2747-849C-800568B6884A}"/>
              </a:ext>
            </a:extLst>
          </p:cNvPr>
          <p:cNvSpPr/>
          <p:nvPr/>
        </p:nvSpPr>
        <p:spPr>
          <a:xfrm>
            <a:off x="15028960" y="1028700"/>
            <a:ext cx="1500957" cy="1484582"/>
          </a:xfrm>
          <a:custGeom>
            <a:avLst/>
            <a:gdLst/>
            <a:ahLst/>
            <a:cxnLst/>
            <a:rect l="l" t="t" r="r" b="b"/>
            <a:pathLst>
              <a:path w="1500957" h="1484582">
                <a:moveTo>
                  <a:pt x="0" y="0"/>
                </a:moveTo>
                <a:lnTo>
                  <a:pt x="1500956" y="0"/>
                </a:lnTo>
                <a:lnTo>
                  <a:pt x="1500956" y="1484582"/>
                </a:lnTo>
                <a:lnTo>
                  <a:pt x="0" y="148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4BD4EAC-E4D7-F72A-C9A5-1C061BC69B65}"/>
              </a:ext>
            </a:extLst>
          </p:cNvPr>
          <p:cNvSpPr txBox="1"/>
          <p:nvPr/>
        </p:nvSpPr>
        <p:spPr>
          <a:xfrm>
            <a:off x="228600" y="525517"/>
            <a:ext cx="17907000" cy="1006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Q9. What is the total treatment revenue by hospital branch?</a:t>
            </a: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5495F499-35F2-C4C8-6070-A26918C8BF8C}"/>
              </a:ext>
            </a:extLst>
          </p:cNvPr>
          <p:cNvSpPr/>
          <p:nvPr/>
        </p:nvSpPr>
        <p:spPr>
          <a:xfrm>
            <a:off x="581703" y="7952358"/>
            <a:ext cx="904559" cy="894691"/>
          </a:xfrm>
          <a:custGeom>
            <a:avLst/>
            <a:gdLst/>
            <a:ahLst/>
            <a:cxnLst/>
            <a:rect l="l" t="t" r="r" b="b"/>
            <a:pathLst>
              <a:path w="904559" h="894691">
                <a:moveTo>
                  <a:pt x="0" y="0"/>
                </a:moveTo>
                <a:lnTo>
                  <a:pt x="904559" y="0"/>
                </a:lnTo>
                <a:lnTo>
                  <a:pt x="904559" y="894691"/>
                </a:lnTo>
                <a:lnTo>
                  <a:pt x="0" y="894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1FC3B-932C-8801-B259-98A261FECE87}"/>
              </a:ext>
            </a:extLst>
          </p:cNvPr>
          <p:cNvSpPr txBox="1"/>
          <p:nvPr/>
        </p:nvSpPr>
        <p:spPr>
          <a:xfrm>
            <a:off x="228600" y="2242551"/>
            <a:ext cx="18669000" cy="92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Branch A generates the maximum revenue by contributing 26%</a:t>
            </a:r>
            <a:r>
              <a:rPr lang="en-US" sz="4000" dirty="0"/>
              <a:t> of total revenue.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52AD1C-E0DD-211E-566C-F5CC2300D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880139"/>
            <a:ext cx="7823267" cy="566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78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B4146-EE25-4582-E62A-7703A7648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89FC34FD-89B3-41E3-93C5-B813A553A232}"/>
              </a:ext>
            </a:extLst>
          </p:cNvPr>
          <p:cNvSpPr/>
          <p:nvPr/>
        </p:nvSpPr>
        <p:spPr>
          <a:xfrm>
            <a:off x="15028960" y="1028700"/>
            <a:ext cx="1500957" cy="1484582"/>
          </a:xfrm>
          <a:custGeom>
            <a:avLst/>
            <a:gdLst/>
            <a:ahLst/>
            <a:cxnLst/>
            <a:rect l="l" t="t" r="r" b="b"/>
            <a:pathLst>
              <a:path w="1500957" h="1484582">
                <a:moveTo>
                  <a:pt x="0" y="0"/>
                </a:moveTo>
                <a:lnTo>
                  <a:pt x="1500956" y="0"/>
                </a:lnTo>
                <a:lnTo>
                  <a:pt x="1500956" y="1484582"/>
                </a:lnTo>
                <a:lnTo>
                  <a:pt x="0" y="148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5C5D8C8-B873-3E32-BCEC-A8C2DCBE3380}"/>
              </a:ext>
            </a:extLst>
          </p:cNvPr>
          <p:cNvSpPr txBox="1"/>
          <p:nvPr/>
        </p:nvSpPr>
        <p:spPr>
          <a:xfrm>
            <a:off x="228600" y="525517"/>
            <a:ext cx="17907000" cy="2134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Q10. Which admission type (OPD/Emergency/Inpatient) is most expensive?</a:t>
            </a: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FAF64634-8ED9-ABA8-2686-E4F1E33C9772}"/>
              </a:ext>
            </a:extLst>
          </p:cNvPr>
          <p:cNvSpPr/>
          <p:nvPr/>
        </p:nvSpPr>
        <p:spPr>
          <a:xfrm>
            <a:off x="581703" y="7952358"/>
            <a:ext cx="904559" cy="894691"/>
          </a:xfrm>
          <a:custGeom>
            <a:avLst/>
            <a:gdLst/>
            <a:ahLst/>
            <a:cxnLst/>
            <a:rect l="l" t="t" r="r" b="b"/>
            <a:pathLst>
              <a:path w="904559" h="894691">
                <a:moveTo>
                  <a:pt x="0" y="0"/>
                </a:moveTo>
                <a:lnTo>
                  <a:pt x="904559" y="0"/>
                </a:lnTo>
                <a:lnTo>
                  <a:pt x="904559" y="894691"/>
                </a:lnTo>
                <a:lnTo>
                  <a:pt x="0" y="894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22252-A47C-D155-C9D4-C4CE6658BB13}"/>
              </a:ext>
            </a:extLst>
          </p:cNvPr>
          <p:cNvSpPr txBox="1"/>
          <p:nvPr/>
        </p:nvSpPr>
        <p:spPr>
          <a:xfrm>
            <a:off x="184355" y="2660397"/>
            <a:ext cx="18669000" cy="92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OPD contributes the highest revenue by generating 36%</a:t>
            </a:r>
            <a:r>
              <a:rPr lang="en-US" sz="4000" dirty="0"/>
              <a:t>of total revenue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952523-27E8-5B2A-0B7F-31B600617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305300"/>
            <a:ext cx="7162800" cy="511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62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37417-AA84-7305-F7A4-9A86452FA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1578CD9A-4BA3-1D07-536F-4EC7B4A9893D}"/>
              </a:ext>
            </a:extLst>
          </p:cNvPr>
          <p:cNvSpPr/>
          <p:nvPr/>
        </p:nvSpPr>
        <p:spPr>
          <a:xfrm>
            <a:off x="15028960" y="1028700"/>
            <a:ext cx="1500957" cy="1484582"/>
          </a:xfrm>
          <a:custGeom>
            <a:avLst/>
            <a:gdLst/>
            <a:ahLst/>
            <a:cxnLst/>
            <a:rect l="l" t="t" r="r" b="b"/>
            <a:pathLst>
              <a:path w="1500957" h="1484582">
                <a:moveTo>
                  <a:pt x="0" y="0"/>
                </a:moveTo>
                <a:lnTo>
                  <a:pt x="1500956" y="0"/>
                </a:lnTo>
                <a:lnTo>
                  <a:pt x="1500956" y="1484582"/>
                </a:lnTo>
                <a:lnTo>
                  <a:pt x="0" y="148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CAC5F50-1DEE-D4A0-B2C4-2F6C86BC18BB}"/>
              </a:ext>
            </a:extLst>
          </p:cNvPr>
          <p:cNvSpPr txBox="1"/>
          <p:nvPr/>
        </p:nvSpPr>
        <p:spPr>
          <a:xfrm>
            <a:off x="228600" y="525517"/>
            <a:ext cx="17907000" cy="1006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Q11. Which city contributes the highest treatment cost?</a:t>
            </a: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9CEAAF44-C721-5FEC-6724-DF94A93A6F6A}"/>
              </a:ext>
            </a:extLst>
          </p:cNvPr>
          <p:cNvSpPr/>
          <p:nvPr/>
        </p:nvSpPr>
        <p:spPr>
          <a:xfrm>
            <a:off x="581703" y="7952358"/>
            <a:ext cx="904559" cy="894691"/>
          </a:xfrm>
          <a:custGeom>
            <a:avLst/>
            <a:gdLst/>
            <a:ahLst/>
            <a:cxnLst/>
            <a:rect l="l" t="t" r="r" b="b"/>
            <a:pathLst>
              <a:path w="904559" h="894691">
                <a:moveTo>
                  <a:pt x="0" y="0"/>
                </a:moveTo>
                <a:lnTo>
                  <a:pt x="904559" y="0"/>
                </a:lnTo>
                <a:lnTo>
                  <a:pt x="904559" y="894691"/>
                </a:lnTo>
                <a:lnTo>
                  <a:pt x="0" y="894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57F71-FEAB-D2E9-74B7-6A83E1702C11}"/>
              </a:ext>
            </a:extLst>
          </p:cNvPr>
          <p:cNvSpPr txBox="1"/>
          <p:nvPr/>
        </p:nvSpPr>
        <p:spPr>
          <a:xfrm>
            <a:off x="288561" y="2229166"/>
            <a:ext cx="18669000" cy="92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Hyderabad contributes the highest revenue by generating 15%</a:t>
            </a:r>
            <a:r>
              <a:rPr lang="en-US" sz="4000" dirty="0"/>
              <a:t> of total revenue.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763C68-ADCC-79EC-9901-BD8E740205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679" y="4152900"/>
            <a:ext cx="7707721" cy="559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85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739B9-6B53-1C1B-BA0F-D449D69E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D013134F-B461-FCFA-4889-574CFAE8F95C}"/>
              </a:ext>
            </a:extLst>
          </p:cNvPr>
          <p:cNvSpPr/>
          <p:nvPr/>
        </p:nvSpPr>
        <p:spPr>
          <a:xfrm>
            <a:off x="15028960" y="1028700"/>
            <a:ext cx="1500957" cy="1484582"/>
          </a:xfrm>
          <a:custGeom>
            <a:avLst/>
            <a:gdLst/>
            <a:ahLst/>
            <a:cxnLst/>
            <a:rect l="l" t="t" r="r" b="b"/>
            <a:pathLst>
              <a:path w="1500957" h="1484582">
                <a:moveTo>
                  <a:pt x="0" y="0"/>
                </a:moveTo>
                <a:lnTo>
                  <a:pt x="1500956" y="0"/>
                </a:lnTo>
                <a:lnTo>
                  <a:pt x="1500956" y="1484582"/>
                </a:lnTo>
                <a:lnTo>
                  <a:pt x="0" y="148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8DE19EA-5923-8F8F-19E9-354F862C5A52}"/>
              </a:ext>
            </a:extLst>
          </p:cNvPr>
          <p:cNvSpPr txBox="1"/>
          <p:nvPr/>
        </p:nvSpPr>
        <p:spPr>
          <a:xfrm>
            <a:off x="228600" y="525517"/>
            <a:ext cx="17907000" cy="1006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Q12. Which diagnosis is most common across all visits?</a:t>
            </a: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DBA8B20B-8EAA-DCFA-1786-D3ADD7418D35}"/>
              </a:ext>
            </a:extLst>
          </p:cNvPr>
          <p:cNvSpPr/>
          <p:nvPr/>
        </p:nvSpPr>
        <p:spPr>
          <a:xfrm>
            <a:off x="581703" y="7952358"/>
            <a:ext cx="904559" cy="894691"/>
          </a:xfrm>
          <a:custGeom>
            <a:avLst/>
            <a:gdLst/>
            <a:ahLst/>
            <a:cxnLst/>
            <a:rect l="l" t="t" r="r" b="b"/>
            <a:pathLst>
              <a:path w="904559" h="894691">
                <a:moveTo>
                  <a:pt x="0" y="0"/>
                </a:moveTo>
                <a:lnTo>
                  <a:pt x="904559" y="0"/>
                </a:lnTo>
                <a:lnTo>
                  <a:pt x="904559" y="894691"/>
                </a:lnTo>
                <a:lnTo>
                  <a:pt x="0" y="894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EE66C-DB27-DCB3-B2BE-A6429C9C29F9}"/>
              </a:ext>
            </a:extLst>
          </p:cNvPr>
          <p:cNvSpPr txBox="1"/>
          <p:nvPr/>
        </p:nvSpPr>
        <p:spPr>
          <a:xfrm>
            <a:off x="135295" y="1842115"/>
            <a:ext cx="18669000" cy="185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Cancer, Pregnancy &amp; Fever are most common diagnosis in across all visits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Those three contributes 9%.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F3CE2-BEDF-3152-FE11-7045439626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4006188"/>
            <a:ext cx="10709990" cy="540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03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B63E8-B821-C9FB-D955-F2939799B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77EA2D31-1171-03EF-7570-5E025F044A5E}"/>
              </a:ext>
            </a:extLst>
          </p:cNvPr>
          <p:cNvSpPr/>
          <p:nvPr/>
        </p:nvSpPr>
        <p:spPr>
          <a:xfrm>
            <a:off x="15028960" y="1028700"/>
            <a:ext cx="1500957" cy="1484582"/>
          </a:xfrm>
          <a:custGeom>
            <a:avLst/>
            <a:gdLst/>
            <a:ahLst/>
            <a:cxnLst/>
            <a:rect l="l" t="t" r="r" b="b"/>
            <a:pathLst>
              <a:path w="1500957" h="1484582">
                <a:moveTo>
                  <a:pt x="0" y="0"/>
                </a:moveTo>
                <a:lnTo>
                  <a:pt x="1500956" y="0"/>
                </a:lnTo>
                <a:lnTo>
                  <a:pt x="1500956" y="1484582"/>
                </a:lnTo>
                <a:lnTo>
                  <a:pt x="0" y="148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0B805A1-B30B-C0A4-A4E9-82AECB60366B}"/>
              </a:ext>
            </a:extLst>
          </p:cNvPr>
          <p:cNvSpPr txBox="1"/>
          <p:nvPr/>
        </p:nvSpPr>
        <p:spPr>
          <a:xfrm>
            <a:off x="228600" y="525517"/>
            <a:ext cx="17907000" cy="1006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Q13. Which payment mode is most preferred by patients?</a:t>
            </a: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00026B86-2671-FB04-60A2-1A50B1F64A0E}"/>
              </a:ext>
            </a:extLst>
          </p:cNvPr>
          <p:cNvSpPr/>
          <p:nvPr/>
        </p:nvSpPr>
        <p:spPr>
          <a:xfrm>
            <a:off x="581703" y="7952358"/>
            <a:ext cx="904559" cy="894691"/>
          </a:xfrm>
          <a:custGeom>
            <a:avLst/>
            <a:gdLst/>
            <a:ahLst/>
            <a:cxnLst/>
            <a:rect l="l" t="t" r="r" b="b"/>
            <a:pathLst>
              <a:path w="904559" h="894691">
                <a:moveTo>
                  <a:pt x="0" y="0"/>
                </a:moveTo>
                <a:lnTo>
                  <a:pt x="904559" y="0"/>
                </a:lnTo>
                <a:lnTo>
                  <a:pt x="904559" y="894691"/>
                </a:lnTo>
                <a:lnTo>
                  <a:pt x="0" y="894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24A890-703F-F73A-4F8E-984D9A24D6D7}"/>
              </a:ext>
            </a:extLst>
          </p:cNvPr>
          <p:cNvSpPr txBox="1"/>
          <p:nvPr/>
        </p:nvSpPr>
        <p:spPr>
          <a:xfrm>
            <a:off x="135295" y="1842115"/>
            <a:ext cx="18669000" cy="185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Net Banking is Payment mode is most preferred by the Patients, which contributes 26%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B6D88A-C915-24C1-4E33-62AECB5243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014" y="4179971"/>
            <a:ext cx="10533314" cy="558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104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81C6FA-355B-E5EE-DBC0-286AE9247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EF7CEDD0-4949-93AC-E604-D34BDE6010D0}"/>
              </a:ext>
            </a:extLst>
          </p:cNvPr>
          <p:cNvSpPr/>
          <p:nvPr/>
        </p:nvSpPr>
        <p:spPr>
          <a:xfrm>
            <a:off x="15028960" y="1028700"/>
            <a:ext cx="1500957" cy="1484582"/>
          </a:xfrm>
          <a:custGeom>
            <a:avLst/>
            <a:gdLst/>
            <a:ahLst/>
            <a:cxnLst/>
            <a:rect l="l" t="t" r="r" b="b"/>
            <a:pathLst>
              <a:path w="1500957" h="1484582">
                <a:moveTo>
                  <a:pt x="0" y="0"/>
                </a:moveTo>
                <a:lnTo>
                  <a:pt x="1500956" y="0"/>
                </a:lnTo>
                <a:lnTo>
                  <a:pt x="1500956" y="1484582"/>
                </a:lnTo>
                <a:lnTo>
                  <a:pt x="0" y="148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7A80BED-9EFC-A782-BCED-7B5221ED0297}"/>
              </a:ext>
            </a:extLst>
          </p:cNvPr>
          <p:cNvSpPr txBox="1"/>
          <p:nvPr/>
        </p:nvSpPr>
        <p:spPr>
          <a:xfrm>
            <a:off x="228600" y="525517"/>
            <a:ext cx="17907000" cy="2134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Q14.Which discharge status is most common and what does it indicate?</a:t>
            </a: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EF320A7B-32EB-8CD3-7B96-D2D0ACDAC577}"/>
              </a:ext>
            </a:extLst>
          </p:cNvPr>
          <p:cNvSpPr/>
          <p:nvPr/>
        </p:nvSpPr>
        <p:spPr>
          <a:xfrm>
            <a:off x="581703" y="7952358"/>
            <a:ext cx="904559" cy="894691"/>
          </a:xfrm>
          <a:custGeom>
            <a:avLst/>
            <a:gdLst/>
            <a:ahLst/>
            <a:cxnLst/>
            <a:rect l="l" t="t" r="r" b="b"/>
            <a:pathLst>
              <a:path w="904559" h="894691">
                <a:moveTo>
                  <a:pt x="0" y="0"/>
                </a:moveTo>
                <a:lnTo>
                  <a:pt x="904559" y="0"/>
                </a:lnTo>
                <a:lnTo>
                  <a:pt x="904559" y="894691"/>
                </a:lnTo>
                <a:lnTo>
                  <a:pt x="0" y="894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E4AE2-1B78-1C3A-A859-74D3958E6BCA}"/>
              </a:ext>
            </a:extLst>
          </p:cNvPr>
          <p:cNvSpPr txBox="1"/>
          <p:nvPr/>
        </p:nvSpPr>
        <p:spPr>
          <a:xfrm>
            <a:off x="152400" y="2715292"/>
            <a:ext cx="18669000" cy="2773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Most common status is Recovered which contributes 68%,</a:t>
            </a:r>
          </a:p>
          <a:p>
            <a:r>
              <a:rPr lang="en-US" sz="4000" dirty="0"/>
              <a:t>This shows that the hospital has a </a:t>
            </a:r>
            <a:r>
              <a:rPr lang="en-US" sz="4000" b="1" dirty="0"/>
              <a:t>high recovery/success rate</a:t>
            </a:r>
            <a:r>
              <a:rPr lang="en-US" sz="4000" dirty="0"/>
              <a:t>, meaning most patients are receiving effective treatment and getting discharged in stable condition.</a:t>
            </a:r>
          </a:p>
          <a:p>
            <a:pPr>
              <a:lnSpc>
                <a:spcPct val="150000"/>
              </a:lnSpc>
            </a:pPr>
            <a:endParaRPr lang="en-US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2A9D3-A167-89EB-4FC0-EB78456EFC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4914900"/>
            <a:ext cx="8763000" cy="522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73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FD8D-B9D1-313D-BD43-E1F4D4D9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0FED65DC-CAA8-7B45-F9CA-A17311C4BE41}"/>
              </a:ext>
            </a:extLst>
          </p:cNvPr>
          <p:cNvSpPr/>
          <p:nvPr/>
        </p:nvSpPr>
        <p:spPr>
          <a:xfrm>
            <a:off x="15028960" y="1028700"/>
            <a:ext cx="1500957" cy="1484582"/>
          </a:xfrm>
          <a:custGeom>
            <a:avLst/>
            <a:gdLst/>
            <a:ahLst/>
            <a:cxnLst/>
            <a:rect l="l" t="t" r="r" b="b"/>
            <a:pathLst>
              <a:path w="1500957" h="1484582">
                <a:moveTo>
                  <a:pt x="0" y="0"/>
                </a:moveTo>
                <a:lnTo>
                  <a:pt x="1500956" y="0"/>
                </a:lnTo>
                <a:lnTo>
                  <a:pt x="1500956" y="1484582"/>
                </a:lnTo>
                <a:lnTo>
                  <a:pt x="0" y="148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805B82E-FF5F-0CF8-FC19-7D7BB2579A23}"/>
              </a:ext>
            </a:extLst>
          </p:cNvPr>
          <p:cNvSpPr txBox="1"/>
          <p:nvPr/>
        </p:nvSpPr>
        <p:spPr>
          <a:xfrm>
            <a:off x="228600" y="525517"/>
            <a:ext cx="17907000" cy="1006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5400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Q15. Which insurance type is used the most and why?</a:t>
            </a: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4AA13B12-D6A6-D46F-69E1-3A81324767C0}"/>
              </a:ext>
            </a:extLst>
          </p:cNvPr>
          <p:cNvSpPr/>
          <p:nvPr/>
        </p:nvSpPr>
        <p:spPr>
          <a:xfrm>
            <a:off x="581703" y="7952358"/>
            <a:ext cx="904559" cy="894691"/>
          </a:xfrm>
          <a:custGeom>
            <a:avLst/>
            <a:gdLst/>
            <a:ahLst/>
            <a:cxnLst/>
            <a:rect l="l" t="t" r="r" b="b"/>
            <a:pathLst>
              <a:path w="904559" h="894691">
                <a:moveTo>
                  <a:pt x="0" y="0"/>
                </a:moveTo>
                <a:lnTo>
                  <a:pt x="904559" y="0"/>
                </a:lnTo>
                <a:lnTo>
                  <a:pt x="904559" y="894691"/>
                </a:lnTo>
                <a:lnTo>
                  <a:pt x="0" y="894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415498-93A0-5C80-45C7-2D8741290339}"/>
              </a:ext>
            </a:extLst>
          </p:cNvPr>
          <p:cNvSpPr txBox="1"/>
          <p:nvPr/>
        </p:nvSpPr>
        <p:spPr>
          <a:xfrm>
            <a:off x="243590" y="2035066"/>
            <a:ext cx="18669000" cy="2773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 Private insurance type is most used  which contributes 44%,</a:t>
            </a:r>
          </a:p>
          <a:p>
            <a:r>
              <a:rPr lang="en-US" sz="4000" dirty="0"/>
              <a:t>because it provides </a:t>
            </a:r>
            <a:r>
              <a:rPr lang="en-US" sz="4000" b="1" dirty="0"/>
              <a:t>better hospital coverage, wider treatment benefits, and easier claim availability.</a:t>
            </a:r>
            <a:endParaRPr lang="en-US" sz="4000" dirty="0"/>
          </a:p>
          <a:p>
            <a:pPr>
              <a:lnSpc>
                <a:spcPct val="150000"/>
              </a:lnSpc>
            </a:pP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BD2B6D-C844-C028-BAA1-4C49CC5E2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4571780"/>
            <a:ext cx="8788537" cy="537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734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 rot="-421283">
            <a:off x="15389582" y="2551511"/>
            <a:ext cx="1769388" cy="1750085"/>
          </a:xfrm>
          <a:custGeom>
            <a:avLst/>
            <a:gdLst/>
            <a:ahLst/>
            <a:cxnLst/>
            <a:rect l="l" t="t" r="r" b="b"/>
            <a:pathLst>
              <a:path w="1769388" h="1750085">
                <a:moveTo>
                  <a:pt x="0" y="0"/>
                </a:moveTo>
                <a:lnTo>
                  <a:pt x="1769388" y="0"/>
                </a:lnTo>
                <a:lnTo>
                  <a:pt x="1769388" y="1750085"/>
                </a:lnTo>
                <a:lnTo>
                  <a:pt x="0" y="1750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55011" y="4125913"/>
            <a:ext cx="10177979" cy="2130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99"/>
              </a:lnSpc>
            </a:pPr>
            <a:r>
              <a:rPr lang="en-US" sz="15999" dirty="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  <p:sp>
        <p:nvSpPr>
          <p:cNvPr id="25" name="Freeform 2"/>
          <p:cNvSpPr/>
          <p:nvPr/>
        </p:nvSpPr>
        <p:spPr>
          <a:xfrm>
            <a:off x="13083188" y="4961075"/>
            <a:ext cx="1648767" cy="1417939"/>
          </a:xfrm>
          <a:custGeom>
            <a:avLst/>
            <a:gdLst/>
            <a:ahLst/>
            <a:cxnLst/>
            <a:rect l="l" t="t" r="r" b="b"/>
            <a:pathLst>
              <a:path w="1648767" h="1417939">
                <a:moveTo>
                  <a:pt x="0" y="0"/>
                </a:moveTo>
                <a:lnTo>
                  <a:pt x="1648767" y="0"/>
                </a:lnTo>
                <a:lnTo>
                  <a:pt x="1648767" y="1417940"/>
                </a:lnTo>
                <a:lnTo>
                  <a:pt x="0" y="1417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E0B6C78-E4AB-4503-3BF9-8DC728692D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996881"/>
            <a:ext cx="1295400" cy="1453047"/>
          </a:xfrm>
          <a:prstGeom prst="rect">
            <a:avLst/>
          </a:prstGeom>
        </p:spPr>
      </p:pic>
      <p:sp>
        <p:nvSpPr>
          <p:cNvPr id="24" name="Freeform 19">
            <a:extLst>
              <a:ext uri="{FF2B5EF4-FFF2-40B4-BE49-F238E27FC236}">
                <a16:creationId xmlns:a16="http://schemas.microsoft.com/office/drawing/2014/main" id="{C507D2E0-931A-A5D3-5582-E50F874F5BF4}"/>
              </a:ext>
            </a:extLst>
          </p:cNvPr>
          <p:cNvSpPr/>
          <p:nvPr/>
        </p:nvSpPr>
        <p:spPr>
          <a:xfrm rot="-1450750">
            <a:off x="3431413" y="4467144"/>
            <a:ext cx="1592739" cy="2405798"/>
          </a:xfrm>
          <a:custGeom>
            <a:avLst/>
            <a:gdLst/>
            <a:ahLst/>
            <a:cxnLst/>
            <a:rect l="l" t="t" r="r" b="b"/>
            <a:pathLst>
              <a:path w="2728198" h="3887329">
                <a:moveTo>
                  <a:pt x="0" y="0"/>
                </a:moveTo>
                <a:lnTo>
                  <a:pt x="2728198" y="0"/>
                </a:lnTo>
                <a:lnTo>
                  <a:pt x="2728198" y="3887329"/>
                </a:lnTo>
                <a:lnTo>
                  <a:pt x="0" y="3887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CFCDE8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279</TotalTime>
  <Words>555</Words>
  <Application>Microsoft Office PowerPoint</Application>
  <PresentationFormat>Custom</PresentationFormat>
  <Paragraphs>51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Lilita One</vt:lpstr>
      <vt:lpstr>Arial</vt:lpstr>
      <vt:lpstr>Wingdings</vt:lpstr>
      <vt:lpstr>Aptos Display</vt:lpstr>
      <vt:lpstr>Quicksand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Teal Modern Healthcare Medical Presentation</dc:title>
  <dc:creator>mandadi bhargavi</dc:creator>
  <cp:lastModifiedBy>mandadi bhargavi</cp:lastModifiedBy>
  <cp:revision>5</cp:revision>
  <dcterms:created xsi:type="dcterms:W3CDTF">2006-08-16T00:00:00Z</dcterms:created>
  <dcterms:modified xsi:type="dcterms:W3CDTF">2026-02-17T03:20:25Z</dcterms:modified>
  <dc:identifier>DAHBY1l0qSY</dc:identifier>
</cp:coreProperties>
</file>